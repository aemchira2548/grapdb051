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96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ชอบ</c:v>
                </c:pt>
              </c:strCache>
            </c:strRef>
          </c:tx>
          <c:spPr>
            <a:solidFill>
              <a:srgbClr val="2B1B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Bubble Milk Tea</c:v>
                </c:pt>
                <c:pt idx="1">
                  <c:v>Cocoa</c:v>
                </c:pt>
                <c:pt idx="2">
                  <c:v>Green Tea</c:v>
                </c:pt>
                <c:pt idx="3">
                  <c:v>Lemon Tea</c:v>
                </c:pt>
                <c:pt idx="4">
                  <c:v>Orange Juice</c:v>
                </c:pt>
                <c:pt idx="5">
                  <c:v>Americano</c:v>
                </c:pt>
                <c:pt idx="6">
                  <c:v>Latte</c:v>
                </c:pt>
                <c:pt idx="7">
                  <c:v>Cappuccino</c:v>
                </c:pt>
                <c:pt idx="8">
                  <c:v>มัทฉะLatte</c:v>
                </c:pt>
                <c:pt idx="9">
                  <c:v>Fresh Milk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12-436A-9A13-661075447A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ไม่ชอบ</c:v>
                </c:pt>
              </c:strCache>
            </c:strRef>
          </c:tx>
          <c:spPr>
            <a:solidFill>
              <a:srgbClr val="C832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Bubble Milk Tea</c:v>
                </c:pt>
                <c:pt idx="1">
                  <c:v>Cocoa</c:v>
                </c:pt>
                <c:pt idx="2">
                  <c:v>Green Tea</c:v>
                </c:pt>
                <c:pt idx="3">
                  <c:v>Lemon Tea</c:v>
                </c:pt>
                <c:pt idx="4">
                  <c:v>Orange Juice</c:v>
                </c:pt>
                <c:pt idx="5">
                  <c:v>Americano</c:v>
                </c:pt>
                <c:pt idx="6">
                  <c:v>Latte</c:v>
                </c:pt>
                <c:pt idx="7">
                  <c:v>Cappuccino</c:v>
                </c:pt>
                <c:pt idx="8">
                  <c:v>มัทฉะLatte</c:v>
                </c:pt>
                <c:pt idx="9">
                  <c:v>Fresh Milk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  <c:pt idx="6">
                  <c:v>0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12-436A-9A13-661075447A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0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D5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Tahoma"/>
              <a:cs typeface="Tahoma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9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แนะนำโครงงาน: ระบบแนะนำเครื่องดื่มที่ใช้ Graph Database (Neo4j Aura) และแสดงผลผ่านเว็บแอป Streamlit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อธิบายปัญหา เป้าหมาย และแนวคิดหลักของระบบ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เปรียบเทียบการเดินความสัมพันธ์หลายชั้นระหว่าง SQL กับ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โมเดลมี 2 node และ 3 relationship: ชอบ ไม่ชอบ และเพื่อน (FRIEND_OF เก็บทิศเดียวแต่ถือเป็นเพื่อนกันทั้งสองฝ่าย)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เครื่องดื่ม 10 อย่างในข้อมูลตัวอย่าง จำนวนเม็ดคือจำนวนคนที่ชอบ (ดำ) และไม่ชอบ (แดง)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ข้อมูลตัวอย่าง 10 ผู้ใช้ 10 เครื่องดื่ม; Americano เป็นเครื่องดื่มที่มีคนไม่ชอบมากที่สุด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นับจำนวนเส้นทางในกราฟ ยิ่งมีหลายเส้นทาง ยิ่งแนะนำน้ำหนักมาก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ผลลัพธ์คำนวณจากข้อมูลตัวอย่างชุดเดียวกับในระบบ (ผู้ใช้ตัวอย่าง: Praew)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หน้าแรกของเว็บ แสดงความนิยมของเครื่องดื่มและโปรไฟล์ผู้ใช้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หน้าแนะนำเครื่องดื่ม แสดงเหตุผลของแต่ละอันดับ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กราฟรอบผู้ใช้หนึ่งคน แสดงว่าตัวเองและเพื่อนแต่ละคนชอบหรือไม่ชอบเครื่องดื่มอะไร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เดโมแต่ละเมนูของแอป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ทุกการเพิ่ม/แก้ไข/ลบทำผ่านหน้าจัดการข้อมูล โดยใช้ Cypher แบบ parameterized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ขั้นตอน: push โค้ดขึ้น GitHub, สร้างแอปบน Streamlit Community Cloud, ใส่ Secrets, กด Deploy, เข้า Admin / Setup เพื่อสร้างข้อมูลตัวอย่าง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สรุปและเสนอแนวทางต่อยอด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DrinkGraph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9D8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ระบบแนะนำเครื่องดื่มจากกราฟความชอบ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88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BFA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ดูว่าคนที่ชอบเหมือนคุณดื่มอะไร แล้วเลือกแก้วถัดไปอย่างมีเหตุผล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D58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r>
              <a:rPr lang="en-US" sz="1300" dirty="0">
                <a:solidFill>
                  <a:srgbClr val="C9D8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  Streamlit    Cypher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-480000">
            <a:off x="5509260" y="1143000"/>
            <a:ext cx="1417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80000">
            <a:off x="5584793" y="1235552"/>
            <a:ext cx="1234440" cy="1234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 rot="300000">
            <a:off x="6469380" y="2331720"/>
            <a:ext cx="1417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0000">
            <a:off x="6570782" y="2423595"/>
            <a:ext cx="1234440" cy="1234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 rot="-180000">
            <a:off x="6835140" y="868680"/>
            <a:ext cx="1417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80000">
            <a:off x="6920598" y="960277"/>
            <a:ext cx="1234440" cy="1234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 rot="420000">
            <a:off x="7520940" y="2103120"/>
            <a:ext cx="1417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20000">
            <a:off x="7626310" y="2195412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ที่มาและวัตถุประสงค์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38988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เครื่องดื่มมีให้เลือกมาก การเลือกเองไม่ง่าย และร้านไม่รู้ว่าลูกค้าแต่ละคนชอบอะไร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04672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53288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แนะนำเครื่องดื่มใหม่ที่ตรงรสนิยม โดยดูจากคนที่ชอบเครื่องดื่มคล้ายกัน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804672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67588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เก็บความชอบและความเป็นเพื่อนเป็นกราฟ แล้วเดินตามเส้นความสัมพันธ์เพื่อหาคำแนะนำ พร้อมอธิบายเหตุผลได้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804672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ทำไมต้องใช้ Graph Database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 (ตารางสัมพันธ์)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 JOIN หลายตาราง (user – like – drink – like – user)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คำสั่งซับซ้อนขึ้นเมื่อเดินหลายชั้น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ความสัมพันธ์ต้องออกแบบเป็นตารางเชื่อมเอง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1280160"/>
            <a:ext cx="4114800" cy="3383280"/>
          </a:xfrm>
          <a:prstGeom prst="rect">
            <a:avLst/>
          </a:prstGeom>
          <a:solidFill>
            <a:srgbClr val="17301F"/>
          </a:solidFill>
          <a:ln w="12700">
            <a:solidFill>
              <a:srgbClr val="17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7548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4D58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(Neo4j)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ความสัมพันธ์ LIKES / DISLIKES เป็นข้อมูลชั้นหนึ่ง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เดินหลายชั้นด้วย pattern เดียว: (u)-[:LIKES]-&gt;(d)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อธิบายเส้นทางของคำแนะนำได้ตรงไปตรงมา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Schema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1737360" cy="1737360"/>
          </a:xfrm>
          <a:prstGeom prst="ellipse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83680" y="1188720"/>
            <a:ext cx="1737360" cy="173736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0" y="1188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Drink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51760" y="1783080"/>
            <a:ext cx="3840480" cy="0"/>
          </a:xfrm>
          <a:prstGeom prst="line">
            <a:avLst/>
          </a:prstGeom>
          <a:noFill/>
          <a:ln w="38100">
            <a:solidFill>
              <a:srgbClr val="2E8B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651760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2377440"/>
            <a:ext cx="3840480" cy="0"/>
          </a:xfrm>
          <a:prstGeom prst="line">
            <a:avLst/>
          </a:prstGeom>
          <a:noFill/>
          <a:ln w="38100">
            <a:solidFill>
              <a:srgbClr val="C8322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65176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3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DISLIKES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91640" y="2926080"/>
            <a:ext cx="0" cy="457200"/>
          </a:xfrm>
          <a:prstGeom prst="line">
            <a:avLst/>
          </a:prstGeom>
          <a:noFill/>
          <a:ln w="4445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8745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06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FRIEND_OF  (เพื่อน สองทาง)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80160" y="3383280"/>
            <a:ext cx="822960" cy="822960"/>
          </a:xfrm>
          <a:prstGeom prst="ellipse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28016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804672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4074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Node: (:User {name})   (:Drink {name})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Unique constraint บน User.name และ Drink.name  ผู้ใช้ชอบและไม่ชอบเครื่องดื่มเดียวกันไม่ได้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เครื่องดื่มในระบบ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เม็ดสีดำ = คนที่ชอบ    เม็ดสีแดง = คนที่ไม่ชอบ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523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Bubble Milk Tea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67512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86384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05256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97280" y="3044952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417320"/>
            <a:ext cx="1280160" cy="12801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94560" y="27523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Cocoa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194560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313432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432304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551176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417320"/>
            <a:ext cx="1280160" cy="12801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840480" y="27523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Green Tea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840480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959352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078224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197096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389120" y="3044952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417320"/>
            <a:ext cx="1280160" cy="12801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486400" y="27523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Lemon Tea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0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5605272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5797296" y="3044952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417320"/>
            <a:ext cx="1280160" cy="12801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32320" y="27523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Orange Juice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7132320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7251192" y="304495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7443216" y="3044952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227832"/>
            <a:ext cx="1280160" cy="12801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48640" y="4562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Americano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548640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667512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786384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978408" y="4855464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1097280" y="4855464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1216152" y="4855464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1335024" y="4855464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560" y="3227832"/>
            <a:ext cx="1280160" cy="128016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2194560" y="4562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Latte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2194560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8"/>
          <p:cNvSpPr/>
          <p:nvPr/>
        </p:nvSpPr>
        <p:spPr>
          <a:xfrm>
            <a:off x="2313432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2432304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0" y="3227832"/>
            <a:ext cx="1280160" cy="1280160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3840480" y="4562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Cappuccino</a:t>
            </a:r>
            <a:endParaRPr lang="en-US" sz="1150" dirty="0"/>
          </a:p>
        </p:txBody>
      </p:sp>
      <p:sp>
        <p:nvSpPr>
          <p:cNvPr id="51" name="Shape 41"/>
          <p:cNvSpPr/>
          <p:nvPr/>
        </p:nvSpPr>
        <p:spPr>
          <a:xfrm>
            <a:off x="3840480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2"/>
          <p:cNvSpPr/>
          <p:nvPr/>
        </p:nvSpPr>
        <p:spPr>
          <a:xfrm>
            <a:off x="3959352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3"/>
          <p:cNvSpPr/>
          <p:nvPr/>
        </p:nvSpPr>
        <p:spPr>
          <a:xfrm>
            <a:off x="4151376" y="4855464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4"/>
          <p:cNvSpPr/>
          <p:nvPr/>
        </p:nvSpPr>
        <p:spPr>
          <a:xfrm>
            <a:off x="4270248" y="4855464"/>
            <a:ext cx="86868" cy="86868"/>
          </a:xfrm>
          <a:prstGeom prst="ellipse">
            <a:avLst/>
          </a:prstGeom>
          <a:solidFill>
            <a:srgbClr val="C8322B"/>
          </a:solidFill>
          <a:ln w="12700">
            <a:solidFill>
              <a:srgbClr val="C83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0" y="3227832"/>
            <a:ext cx="1280160" cy="1280160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5486400" y="4562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มัทฉะLatte</a:t>
            </a:r>
            <a:endParaRPr lang="en-US" sz="1150" dirty="0"/>
          </a:p>
        </p:txBody>
      </p:sp>
      <p:sp>
        <p:nvSpPr>
          <p:cNvPr id="57" name="Shape 46"/>
          <p:cNvSpPr/>
          <p:nvPr/>
        </p:nvSpPr>
        <p:spPr>
          <a:xfrm>
            <a:off x="5486400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7"/>
          <p:cNvSpPr/>
          <p:nvPr/>
        </p:nvSpPr>
        <p:spPr>
          <a:xfrm>
            <a:off x="5605272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2320" y="3227832"/>
            <a:ext cx="1280160" cy="1280160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7132320" y="4562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Fresh Milk</a:t>
            </a:r>
            <a:endParaRPr lang="en-US" sz="1150" dirty="0"/>
          </a:p>
        </p:txBody>
      </p:sp>
      <p:sp>
        <p:nvSpPr>
          <p:cNvPr id="61" name="Shape 49"/>
          <p:cNvSpPr/>
          <p:nvPr/>
        </p:nvSpPr>
        <p:spPr>
          <a:xfrm>
            <a:off x="7132320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0"/>
          <p:cNvSpPr/>
          <p:nvPr/>
        </p:nvSpPr>
        <p:spPr>
          <a:xfrm>
            <a:off x="7251192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1"/>
          <p:cNvSpPr/>
          <p:nvPr/>
        </p:nvSpPr>
        <p:spPr>
          <a:xfrm>
            <a:off x="7370064" y="485546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ข้อมูลตัวอย่าง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188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19656"/>
            <a:ext cx="338328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9202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เครื่องดื่ม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338328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6517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ความชอบ (LIKES)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338328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3832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3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383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ความไม่ชอบ (DISLIKES)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338328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06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114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คู่เพื่อน (FRIEND_OF)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45736"/>
            <a:ext cx="338328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" name="Chart 0"/>
          <p:cNvGraphicFramePr/>
          <p:nvPr/>
        </p:nvGraphicFramePr>
        <p:xfrm>
          <a:off x="4297680" y="1188720"/>
          <a:ext cx="44805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อัลกอริทึมแนะนำ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8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หาเครื่องดื่มที่ผู้ใช้ชอบ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1508760"/>
            <a:ext cx="228600" cy="0"/>
          </a:xfrm>
          <a:prstGeom prst="line">
            <a:avLst/>
          </a:prstGeom>
          <a:noFill/>
          <a:ln w="19050">
            <a:solidFill>
              <a:srgbClr val="5E6B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291840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8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หาคนอื่นที่ชอบเหมือนกัน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1508760"/>
            <a:ext cx="228600" cy="0"/>
          </a:xfrm>
          <a:prstGeom prst="line">
            <a:avLst/>
          </a:prstGeom>
          <a:noFill/>
          <a:ln w="19050">
            <a:solidFill>
              <a:srgbClr val="5E6B5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035040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8B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ดูเครื่องดื่มใหม่ที่คนกลุ่มนั้นชอบ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7301F"/>
          </a:solidFill>
          <a:ln w="12700">
            <a:solidFill>
              <a:srgbClr val="17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233172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(u:User {name:$name})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(d:Drink)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(u)-[:LIKES]-&gt;(d)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NOT (u)-[:DISLIKES]-&gt;(d)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MATCH (u)-[:LIKES]-&gt;(sd:Drink)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&lt;-[:LIKES]-(o:User)-[:LIKES]-&gt;(d)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 &lt;&gt; 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d.name, count(o) AS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score DESC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9748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คือจำนวนเส้นทาง เครื่องดื่มที่ชอบเหมือนกัน → คนอื่น → เครื่องดื่มใหม่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ตัดเครื่องดื่มที่ผู้ใช้ชอบหรือไม่ชอบอยู่แล้วออก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เพื่อน (FRIEND_OF) ใช้แสดงในโปรไฟล์และกราฟ ไม่ถูกนำมาคิดคะแนน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ตัวอย่างผลลัพธ์: ผู้ใช้ Praew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25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Praew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B4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ชอบ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Lemon Tea, Orange Juice, Green Tea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83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ไม่ชอบ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Cappuccino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740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เพื่อน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Fon, May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2304288"/>
            <a:ext cx="493776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657600" y="12344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9B8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8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252728"/>
            <a:ext cx="868680" cy="8686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12064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Fresh Milk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720840" y="1508760"/>
            <a:ext cx="914400" cy="0"/>
          </a:xfrm>
          <a:prstGeom prst="line">
            <a:avLst/>
          </a:prstGeom>
          <a:noFill/>
          <a:ln w="19050">
            <a:solidFill>
              <a:srgbClr val="9FB09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726680" y="1463040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845552" y="1463040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964424" y="1463040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321040" y="1280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Fon, Min ชอบด้วย (ผ่าน Green Tea, Lemon Tea ฯลฯ)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657600" y="3474720"/>
            <a:ext cx="493776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3657600" y="2404872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9B8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8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423160"/>
            <a:ext cx="868680" cy="86868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120640" y="2450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Bubble Milk Tea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720840" y="2679192"/>
            <a:ext cx="914400" cy="0"/>
          </a:xfrm>
          <a:prstGeom prst="line">
            <a:avLst/>
          </a:prstGeom>
          <a:noFill/>
          <a:ln w="19050">
            <a:solidFill>
              <a:srgbClr val="9FB09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7726680" y="263347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7845552" y="2633472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8321040" y="24505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5120640" y="2862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May, Nut ชอบด้วย (ผ่าน Green Tea)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657600" y="4645152"/>
            <a:ext cx="4937760" cy="10973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3657600" y="3575304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9B8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8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593592"/>
            <a:ext cx="868680" cy="86868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120640" y="3621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Cocoa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6720840" y="3849624"/>
            <a:ext cx="914400" cy="0"/>
          </a:xfrm>
          <a:prstGeom prst="line">
            <a:avLst/>
          </a:prstGeom>
          <a:noFill/>
          <a:ln w="19050">
            <a:solidFill>
              <a:srgbClr val="9FB09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7726680" y="380390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7845552" y="3803904"/>
            <a:ext cx="86868" cy="86868"/>
          </a:xfrm>
          <a:prstGeom prst="ellipse">
            <a:avLst/>
          </a:prstGeom>
          <a:solidFill>
            <a:srgbClr val="2B1B14"/>
          </a:solidFill>
          <a:ln w="12700">
            <a:solidFill>
              <a:srgbClr val="2B1B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 txBox="1"/>
          <p:nvPr/>
        </p:nvSpPr>
        <p:spPr>
          <a:xfrm>
            <a:off x="8321040" y="36210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5120640" y="40325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May, Min ชอบด้วย (ผ่าน Green Tea)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365760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Cappuccino ถูกตัดออกจากคำแนะนำ เพราะ Praew ไม่ชอบ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หน้าจอเว็บ: ภาพรวม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5632704" cy="3554685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web/dashboard_m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577840" cy="34998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371600"/>
            <a:ext cx="2148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เมนูยอดนิยม เรียงตามจำนวนคนที่ชอบ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เม็ดสีดำ = ชอบ เม็ดสีแดง = ไม่ชอบ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โปรไฟล์ผู้ใช้แสดงสิ่งที่ชอบ ไม่ชอบ และเพื่อน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หน้าจอเว็บ: คำแนะนำ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5184648" cy="3575304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web/recs_m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129784" cy="3520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98464" y="1371600"/>
            <a:ext cx="25968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เรียงอันดับพร้อมรูปและ score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บอกว่าใครชอบแบบเดียวกัน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บอกว่าเชื่อมผ่านเครื่องดื่มตัวไหน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หน้าจอเว็บ: กราฟความสัมพันธ์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1207008"/>
            <a:ext cx="3477514" cy="3575304"/>
          </a:xfrm>
          <a:prstGeom prst="rect">
            <a:avLst/>
          </a:prstGeom>
          <a:solidFill>
            <a:srgbClr val="D5DCCF"/>
          </a:solidFill>
          <a:ln w="12700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web/graph_m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422650" cy="3520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291330" y="1371600"/>
            <a:ext cx="430403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ซ้าย: ผู้ใช้ (สีทอง) และเพื่อน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ขวา: เครื่องดื่มเป็นฟองรูป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เส้นเขียว = ชอบ เส้นแดงประ = ไม่ชอบ ทั้งของผู้ใช้และของเพื่อน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เส้นเหลืองด้านซ้าย = เป็นเพื่อนกัน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ขอบรูปบอกความรู้สึกของผู้ใช้ ขอบเทา = มีแต่เพื่อนที่เลือก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ฟีเจอร์ของระบบ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4008" cy="777240"/>
          </a:xfrm>
          <a:prstGeom prst="rect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เมนูยอดนิยมและโปรไฟล์ผู้ใช้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64008" cy="777240"/>
          </a:xfrm>
          <a:prstGeom prst="rect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แนะนำเครื่องดื่ม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เรียงอันดับพร้อมเหตุผลและ score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64008" cy="777240"/>
          </a:xfrm>
          <a:prstGeom prst="rect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แกลเลอรีเครื่องดื่ม ดูจำนวนคนชอบ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64008" cy="777240"/>
          </a:xfrm>
          <a:prstGeom prst="rect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920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บันทึกความชอบ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 ชอบ / ไม่ชอบ ให้ผู้ใช้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64008" cy="777240"/>
          </a:xfrm>
          <a:prstGeom prst="rect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กราฟความสัมพันธ์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 เพื่อน และสิ่งที่แต่ละคนชอบ/ไม่ชอบ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64008" cy="777240"/>
          </a:xfrm>
          <a:prstGeom prst="rect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89204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จัดการข้อมูล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แก้ไข ลบ ผู้ใช้ เครื่องดื่ม ความชอบ เพื่อน และรูป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การจัดการข้อมูล (CRUD)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286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ข้อมูล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แก้ไข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ผู้ใช้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เพิ่มผู้ใช้ใหม่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เปลี่ยนชื่อ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ลบพร้อมความชอบ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เครื่องดื่ม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เพิ่มพร้อมอัปโหลดรูป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เปลี่ยนชื่อ / เปลี่ยนรูป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ลบพร้อมเส้นเชื่อมและรูป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ความชอบ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ตั้งชอบ / ไม่ชอบ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แก้รายการทั้งชุด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ล้างความรู้สึก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เพื่อน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เลือกเพื่อนของผู้ใช้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แก้รายชื่อเพื่อนทั้งชุด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2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เอาออกจากรายชื่อ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03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ตรวจชื่อซ้ำก่อนเพิ่มหรือเปลี่ยนชื่อ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ต้องติ๊กยืนยันก่อนลบ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ห้ามเลือกทั้งชอบและไม่ชอบเครื่องดื่มเดียวกัน และเป็นเพื่อนกับตัวเองไม่ได้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 รูปที่อัปโหลดถูกครอปเป็นสี่เหลี่ยมจัตุรัสเท่ากันและเก็บใน Neo4j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046720" cy="36576"/>
          </a:xfrm>
          <a:prstGeom prst="rect">
            <a:avLst/>
          </a:prstGeom>
          <a:solidFill>
            <a:srgbClr val="1B2A20"/>
          </a:solidFill>
          <a:ln w="12700">
            <a:solidFill>
              <a:srgbClr val="1B2A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สถาปัตยกรรมและการ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เก็บโค้ด app.py และ neo4j_service.py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88920" y="2240280"/>
            <a:ext cx="685800" cy="0"/>
          </a:xfrm>
          <a:prstGeom prst="line">
            <a:avLst/>
          </a:prstGeom>
          <a:noFill/>
          <a:ln w="31750">
            <a:solidFill>
              <a:srgbClr val="2F5D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520440" y="137160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188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Community Cloud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รันแอปเป็นเว็บ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760720" y="2240280"/>
            <a:ext cx="685800" cy="0"/>
          </a:xfrm>
          <a:prstGeom prst="line">
            <a:avLst/>
          </a:prstGeom>
          <a:noFill/>
          <a:ln w="31750">
            <a:solidFill>
              <a:srgbClr val="2F5D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92240" y="1371600"/>
            <a:ext cx="2194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D5DC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5544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8368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62940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B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เก็บกราฟ User – Drink และรูป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520440"/>
            <a:ext cx="8046720" cy="1143000"/>
          </a:xfrm>
          <a:prstGeom prst="rect">
            <a:avLst/>
          </a:prstGeom>
          <a:solidFill>
            <a:srgbClr val="FBF0D6"/>
          </a:solidFill>
          <a:ln w="12700">
            <a:solidFill>
              <a:srgbClr val="FBF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64008" cy="1143000"/>
          </a:xfrm>
          <a:prstGeom prst="rect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822960" y="36576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Secrets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uri / username / password ใน Secrets เท่านั้น ห้าม commit ลง GitHub ถ้าไม่ระบุ database จะใช้ database หลักของ instance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สรุปและแนวทางต่อยอด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27432"/>
          </a:xfrm>
          <a:prstGeom prst="rect">
            <a:avLst/>
          </a:prstGeom>
          <a:solidFill>
            <a:srgbClr val="C98B2B"/>
          </a:solidFill>
          <a:ln w="12700">
            <a:solidFill>
              <a:srgbClr val="C98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4D58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โมเดลกราฟ User – Drink ด้วย LIKES / DISLIKES และ User – User ด้วย FRIEND_OF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แนะนำด้วย Collaborative Filtering ใน Cypher และอธิบายเหตุผลได้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CRUD ครบ พร้อมรูป และ deploy ได้จริงผ่าน GitHub + Streamlit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ใช้งานได้ทั้งเว็บ Streamlit และ Colab Notebook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4D58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แนวทางต่อยอด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เพิ่มหมวดเครื่องดื่ม (กาแฟ / ชา / นม)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ให้คะแนนความชอบ 1–5 แทนชอบ / ไม่ชอบ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นำความเป็นเพื่อนมาช่วยคิดคะแนน ใช้ Graph Data Science และวัดผลด้วย Precision@K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FA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ขอบคุณที่รับชม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1175</Words>
  <Application>Microsoft Office PowerPoint</Application>
  <PresentationFormat>On-screen Show (16:9)</PresentationFormat>
  <Paragraphs>196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DrinkGraph Recommendation System</dc:title>
  <dc:subject>PptxGenJS Presentation</dc:subject>
  <dc:creator>PptxGenJS</dc:creator>
  <cp:lastModifiedBy>เอมจิรา อ่วมเจริญ</cp:lastModifiedBy>
  <cp:revision>2</cp:revision>
  <dcterms:created xsi:type="dcterms:W3CDTF">2026-10-02T03:52:43Z</dcterms:created>
  <dcterms:modified xsi:type="dcterms:W3CDTF">2026-10-15T15:36:22Z</dcterms:modified>
</cp:coreProperties>
</file>